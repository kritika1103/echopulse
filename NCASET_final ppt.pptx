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24"/>
  </p:notesMasterIdLst>
  <p:sldIdLst>
    <p:sldId id="256" r:id="rId2"/>
    <p:sldId id="257" r:id="rId3"/>
    <p:sldId id="267" r:id="rId4"/>
    <p:sldId id="288" r:id="rId5"/>
    <p:sldId id="280" r:id="rId6"/>
    <p:sldId id="269" r:id="rId7"/>
    <p:sldId id="292" r:id="rId8"/>
    <p:sldId id="293" r:id="rId9"/>
    <p:sldId id="294" r:id="rId10"/>
    <p:sldId id="295" r:id="rId11"/>
    <p:sldId id="270" r:id="rId12"/>
    <p:sldId id="275" r:id="rId13"/>
    <p:sldId id="282" r:id="rId14"/>
    <p:sldId id="283" r:id="rId15"/>
    <p:sldId id="290" r:id="rId16"/>
    <p:sldId id="291" r:id="rId17"/>
    <p:sldId id="272" r:id="rId18"/>
    <p:sldId id="289" r:id="rId19"/>
    <p:sldId id="274" r:id="rId20"/>
    <p:sldId id="273" r:id="rId21"/>
    <p:sldId id="277" r:id="rId22"/>
    <p:sldId id="265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3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6" d="100"/>
          <a:sy n="106" d="100"/>
        </p:scale>
        <p:origin x="1764" y="3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2AD8B-B65B-4EC9-907C-AD3C74220B0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BA433C-590F-467D-840F-9C11541F4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062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BA433C-590F-467D-840F-9C11541F4D9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799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2FAB5-1447-4029-8C1A-8A2C0A41F260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ICGCP 2024 , Sapthagiri College of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870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DF1A3-64F2-437F-BFE7-28ED67C29734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ICGCP 2024 , Sapthagiri College of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374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12066-F6D7-43AB-A6F9-78B56E752CD1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ICGCP 2024 , Sapthagiri College of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197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E5085-59F4-454E-AB47-E9417B0425F9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ICGCP 2024 , Sapthagiri College of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622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FB03A-A52E-44A0-BA65-0305A8223F5D}" type="datetime1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ICGCP 2024 , Sapthagiri College of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972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4D22-EE43-495B-9462-FDE666B00C28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ICGCP 2024 , Sapthagiri College of Engineering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347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2BD2B-3D06-4240-8451-FA794E0D303A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ICGCP 2024 , Sapthagiri College of Engineering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346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A8E7-7F14-47AF-840C-1009F8A7C3CB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ICGCP 2024 , Sapthagiri College of Engineering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628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604FB-2685-4F5C-BAC7-3672E91D900B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ICGCP 2024 , Sapthagiri College of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894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D88C6-900B-401B-A023-52CB4D1C5763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ICGCP 2024 , Sapthagiri College of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66002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D88C6-900B-401B-A023-52CB4D1C5763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ICGCP 2024 , Sapthagiri College of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20219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D88C6-900B-401B-A023-52CB4D1C5763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ICGCP 2024 , Sapthagiri College of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801580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D88C6-900B-401B-A023-52CB4D1C5763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ICGCP 2024 , Sapthagiri College of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97208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D88C6-900B-401B-A023-52CB4D1C5763}" type="datetime1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ICGCP 2024 , Sapthagiri College of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47140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D88C6-900B-401B-A023-52CB4D1C5763}" type="datetime1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ICGCP 2024 , Sapthagiri College of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8642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571F-76DF-4D14-9BAA-8CD1D0B4A6EF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ICGCP 2024 , Sapthagiri College of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2238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4C14F-A47F-4F89-BF46-E70C8A749904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ICGCP 2024 , Sapthagiri College of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1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16D88C6-900B-401B-A023-52CB4D1C5763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ICGCP 2024 , Sapthagiri College of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3455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</p:sldLayoutIdLst>
  <p:hf sldNum="0" hdr="0" ftr="0" dt="0"/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api.us.elevenlabs.io/twilio/inbound_call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hyperlink" Target="https://elevenlabs.io4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icrosoft.github.io/mcp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64" y="73842"/>
            <a:ext cx="8991600" cy="1470025"/>
          </a:xfrm>
        </p:spPr>
        <p:txBody>
          <a:bodyPr>
            <a:noAutofit/>
          </a:bodyPr>
          <a:lstStyle/>
          <a:p>
            <a:pPr algn="ctr"/>
            <a:br>
              <a:rPr lang="en-US" sz="2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itchFamily="18" charset="0"/>
              </a:rPr>
            </a:br>
            <a:r>
              <a:rPr lang="en-US" sz="2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National Conference on</a:t>
            </a:r>
            <a:br>
              <a:rPr lang="en-US" sz="2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</a:br>
            <a:r>
              <a:rPr lang="en-US" sz="2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 Advances in Science Engineering &amp; Technology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itchFamily="18" charset="0"/>
              </a:rPr>
              <a:t>7</a:t>
            </a:r>
            <a:r>
              <a:rPr lang="en-US" sz="2000" b="1" baseline="30000" dirty="0">
                <a:latin typeface="Times New Roman" panose="02020603050405020304" pitchFamily="18" charset="0"/>
                <a:cs typeface="Times New Roman" pitchFamily="18" charset="0"/>
              </a:rPr>
              <a:t>th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itchFamily="18" charset="0"/>
              </a:rPr>
              <a:t>NOV 2025</a:t>
            </a:r>
            <a:endParaRPr lang="en-US" sz="28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5854242"/>
            <a:ext cx="7882520" cy="1156157"/>
          </a:xfrm>
        </p:spPr>
        <p:txBody>
          <a:bodyPr>
            <a:normAutofit/>
          </a:bodyPr>
          <a:lstStyle/>
          <a:p>
            <a:pPr algn="ctr"/>
            <a:r>
              <a:rPr lang="en-US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Sapthagiri College of Engineering</a:t>
            </a:r>
          </a:p>
          <a:p>
            <a:pPr algn="ctr"/>
            <a:r>
              <a:rPr lang="en-US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DEPARTMENT OF ISE</a:t>
            </a:r>
          </a:p>
          <a:p>
            <a:pPr algn="ctr"/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543867"/>
            <a:ext cx="7315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“ECHOPULSE : An AI-powered Voice Automation System for Real-Time Outbound Communication”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5274" y="2928862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68920"/>
            <a:ext cx="77724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Anagha Deshpande      --1SG23IS007</a:t>
            </a:r>
          </a:p>
          <a:p>
            <a:pPr algn="ctr"/>
            <a:r>
              <a:rPr lang="en-US" sz="2400" b="1" dirty="0">
                <a:solidFill>
                  <a:schemeClr val="tx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Harshitha K                  --1SG23IS039</a:t>
            </a:r>
          </a:p>
          <a:p>
            <a:pPr algn="ctr"/>
            <a:r>
              <a:rPr lang="en-US" sz="2400" b="1" dirty="0">
                <a:solidFill>
                  <a:schemeClr val="tx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Kavya C                         --1SG23IS048</a:t>
            </a:r>
          </a:p>
          <a:p>
            <a:pPr algn="ctr"/>
            <a:r>
              <a:rPr lang="en-US" sz="2400" b="1" dirty="0">
                <a:solidFill>
                  <a:schemeClr val="tx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Kritika Manani            --1SG23IS051</a:t>
            </a:r>
          </a:p>
          <a:p>
            <a:pPr algn="ctr"/>
            <a:endParaRPr lang="en-US" sz="2400" b="1" dirty="0">
              <a:solidFill>
                <a:schemeClr val="tx2">
                  <a:lumMod val="9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solidFill>
                  <a:schemeClr val="tx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 </a:t>
            </a:r>
            <a:r>
              <a:rPr lang="en-US" sz="2800" b="1" dirty="0">
                <a:solidFill>
                  <a:schemeClr val="tx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</a:t>
            </a:r>
            <a:r>
              <a:rPr lang="en-US" sz="2800" b="1" dirty="0" err="1">
                <a:solidFill>
                  <a:schemeClr val="tx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Vasanthalakshmi</a:t>
            </a:r>
            <a:r>
              <a:rPr lang="en-US" sz="2800" b="1" dirty="0">
                <a:solidFill>
                  <a:schemeClr val="tx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en-US" sz="1400" b="1" i="1" dirty="0">
                <a:solidFill>
                  <a:schemeClr val="tx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b="1" i="1" dirty="0">
                <a:solidFill>
                  <a:schemeClr val="tx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(Asst prof, ISE dept)</a:t>
            </a:r>
            <a:endParaRPr lang="en-US" sz="3200" b="1" dirty="0">
              <a:solidFill>
                <a:schemeClr val="tx2">
                  <a:lumMod val="9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765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27700" y="533400"/>
            <a:ext cx="51921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27700" y="1371601"/>
            <a:ext cx="6711654" cy="4876806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v/s proposed system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594275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B2514-9EAA-1662-D407-E140CD020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69F8D-1612-9389-B780-951E455DB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33500"/>
            <a:ext cx="8229600" cy="52959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Echopulse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AI-driven voice automation system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real-time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outbound calls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delivers natural, human-like speech using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prompt-based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synthesis, enabling dynamic, personalized communication at scale. With expressive AI voices and robust infrastructure,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Echopulse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timely, cost-effective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updates across industries.</a:t>
            </a:r>
          </a:p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117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9C358-E58F-8706-B424-0FE2ED80B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131EB-7BEB-B241-826B-BA5F553B26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912" y="762000"/>
            <a:ext cx="4038600" cy="5516563"/>
          </a:xfrm>
        </p:spPr>
        <p:txBody>
          <a:bodyPr>
            <a:norm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Echopulse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mainly a combination of two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softwares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Eleven Labs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advanced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synthesis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Twilio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scalable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telephony APIs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bridges both platforms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seamless outbound calling experience for tech updates.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Fulfilling the rise of conversational AI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977EE41-F919-A39C-1F8E-87BFF262377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1371600"/>
            <a:ext cx="4038600" cy="37338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87807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1D029-1B2D-46B6-21B2-4B2D84F17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10547-CAF0-8612-8B49-2C681FDA7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86" y="1447800"/>
            <a:ext cx="7479714" cy="4195481"/>
          </a:xfrm>
        </p:spPr>
        <p:txBody>
          <a:bodyPr/>
          <a:lstStyle/>
          <a:p>
            <a:pPr marL="0" indent="0" algn="just">
              <a:buNone/>
            </a:pPr>
            <a:r>
              <a:rPr lang="en-US" sz="2200" b="1" i="1" dirty="0"/>
              <a:t>Businesses</a:t>
            </a:r>
            <a:r>
              <a:rPr lang="en-US" dirty="0"/>
              <a:t> need to communicate with customers in real time, but </a:t>
            </a:r>
            <a:r>
              <a:rPr lang="en-US" b="1" i="1" dirty="0"/>
              <a:t>traditional outbound call systems </a:t>
            </a:r>
            <a:r>
              <a:rPr lang="en-US" dirty="0"/>
              <a:t>are </a:t>
            </a:r>
            <a:r>
              <a:rPr lang="en-US" b="1" i="1" dirty="0"/>
              <a:t>limited</a:t>
            </a:r>
            <a:r>
              <a:rPr lang="en-US" dirty="0"/>
              <a:t>. They often lack personalization, and can’t handle high volumes efficiently</a:t>
            </a:r>
            <a:r>
              <a:rPr lang="en-US" b="1" i="1" dirty="0"/>
              <a:t>. Delivering natural, intelligent, and cost-effective </a:t>
            </a:r>
            <a:r>
              <a:rPr lang="en-US" dirty="0"/>
              <a:t>voice communication—quickly and across large audiences—is a </a:t>
            </a:r>
            <a:r>
              <a:rPr lang="en-US" b="1" i="1" dirty="0"/>
              <a:t>major challenge across industries</a:t>
            </a:r>
            <a:r>
              <a:rPr lang="en-US" dirty="0"/>
              <a:t>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08688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F6561-5FB8-09AE-80BB-8B3F439DA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lang="en-US" dirty="0"/>
              <a:t>Literature Review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E72FEC9-3A4E-B784-A6FC-C5FB1D70CF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563874"/>
              </p:ext>
            </p:extLst>
          </p:nvPr>
        </p:nvGraphicFramePr>
        <p:xfrm>
          <a:off x="228600" y="685800"/>
          <a:ext cx="8686800" cy="579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4361">
                  <a:extLst>
                    <a:ext uri="{9D8B030D-6E8A-4147-A177-3AD203B41FA5}">
                      <a16:colId xmlns:a16="http://schemas.microsoft.com/office/drawing/2014/main" val="3659949956"/>
                    </a:ext>
                  </a:extLst>
                </a:gridCol>
                <a:gridCol w="1357439">
                  <a:extLst>
                    <a:ext uri="{9D8B030D-6E8A-4147-A177-3AD203B41FA5}">
                      <a16:colId xmlns:a16="http://schemas.microsoft.com/office/drawing/2014/main" val="3650684405"/>
                    </a:ext>
                  </a:extLst>
                </a:gridCol>
                <a:gridCol w="1333163">
                  <a:extLst>
                    <a:ext uri="{9D8B030D-6E8A-4147-A177-3AD203B41FA5}">
                      <a16:colId xmlns:a16="http://schemas.microsoft.com/office/drawing/2014/main" val="3687862167"/>
                    </a:ext>
                  </a:extLst>
                </a:gridCol>
                <a:gridCol w="2229356">
                  <a:extLst>
                    <a:ext uri="{9D8B030D-6E8A-4147-A177-3AD203B41FA5}">
                      <a16:colId xmlns:a16="http://schemas.microsoft.com/office/drawing/2014/main" val="203635549"/>
                    </a:ext>
                  </a:extLst>
                </a:gridCol>
                <a:gridCol w="2152481">
                  <a:extLst>
                    <a:ext uri="{9D8B030D-6E8A-4147-A177-3AD203B41FA5}">
                      <a16:colId xmlns:a16="http://schemas.microsoft.com/office/drawing/2014/main" val="3087511848"/>
                    </a:ext>
                  </a:extLst>
                </a:gridCol>
              </a:tblGrid>
              <a:tr h="91659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OF PUBLICATION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585155"/>
                  </a:ext>
                </a:extLst>
              </a:tr>
              <a:tr h="16248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Interaction Patterns and Breakdowns in Conversing with LLM-Powered Voice Assistants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1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Amama Mahmood</a:t>
                      </a:r>
                      <a:r>
                        <a:rPr lang="en-US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en-US" sz="1600" b="0" i="1" u="none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Junxiang</a:t>
                      </a:r>
                      <a:r>
                        <a:rPr lang="en-US" sz="1600" b="0" i="1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Wang</a:t>
                      </a:r>
                      <a:endParaRPr lang="en-US" sz="1600" i="1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Analyzes how users interact with LLM-based voice assistants and identifies breakdowns in communication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provide technical solutions or frameworks to address the identified interaction issues.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909652"/>
                  </a:ext>
                </a:extLst>
              </a:tr>
              <a:tr h="16248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Empathetic Intelligence: LLM-Based Conversational AI Voice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Vipul Bhatia, Priyam </a:t>
                      </a:r>
                      <a:r>
                        <a:rPr lang="en-US" sz="160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Sekra</a:t>
                      </a:r>
                      <a:r>
                        <a:rPr lang="en-US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Soni Sweta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Introduces an empathy-driven voice assistant architecture using LLMs with sentiment analysis and response generation.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mainly on emotional modeling; limited exploration of large-scale deployment and telephony integration.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0634349"/>
                  </a:ext>
                </a:extLst>
              </a:tr>
              <a:tr h="16248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Evolution of Voice 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Barty-Bart</a:t>
                      </a:r>
                    </a:p>
                    <a:p>
                      <a:pPr algn="ctr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Traces the progress of voice automation from concatenative and parametric synthesis to neural TTS models.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Lacks focus on integration with conversational AI and real-time communication systems.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9539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9863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80874-6394-CBCE-B03C-9A76F89F5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8"/>
            <a:ext cx="8583090" cy="918882"/>
          </a:xfrm>
        </p:spPr>
        <p:txBody>
          <a:bodyPr/>
          <a:lstStyle/>
          <a:p>
            <a:r>
              <a:rPr lang="en-US" dirty="0"/>
              <a:t>Existing system and its limitation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C3260-76EA-3DB3-D2FE-BD2BBCDD8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700" y="1295401"/>
            <a:ext cx="7478100" cy="4953006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system focused mainly on setting up API keys, importing Twilio numbers, and configuring voice routing using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ElevenLabs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used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Twilio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ConversationRelay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configuration to connect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ElevenLabs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voices through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was largely dependent on open-source JavaScript repositories.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98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BA414-8658-BA18-F70D-6BEBF93A3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700" y="381000"/>
            <a:ext cx="7325700" cy="6248399"/>
          </a:xfrm>
        </p:spPr>
        <p:txBody>
          <a:bodyPr>
            <a:normAutofit fontScale="92500"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functional, this setup had several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was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technically complex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requiring prior knowledge of API integration and server configuration.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 flow was rigid and predefined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offering little room for personalization or adaptive responses.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Moreover, it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lacked emotional tone and contextual awareness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the communication sound robotic and less engaging.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also offered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educational or research value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it was built mainly for demonstration rather than flexible, replicable use.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21053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01CAC-9813-2688-C5D2-02479852E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995082"/>
          </a:xfrm>
        </p:spPr>
        <p:txBody>
          <a:bodyPr/>
          <a:lstStyle/>
          <a:p>
            <a:r>
              <a:rPr lang="en-US" dirty="0"/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ACA91-E772-89CD-62A2-EF3D06C98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700" y="1295400"/>
            <a:ext cx="6711654" cy="5257799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Echopulse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addresses these challenges by introducing a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Python-based outbound voice agent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delivers tech updates in a natural, conversational manner.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Built using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Cursor IDE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deployed via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servers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replaces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ConversationRelay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prompt-based agent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eliminating the need for complex Twilio relay configurations.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incorporates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personality traits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friendliness and confidence, making the voice output more human-like and engaging. </a:t>
            </a:r>
          </a:p>
        </p:txBody>
      </p:sp>
    </p:spTree>
    <p:extLst>
      <p:ext uri="{BB962C8B-B14F-4D97-AF65-F5344CB8AC3E}">
        <p14:creationId xmlns:p14="http://schemas.microsoft.com/office/powerpoint/2010/main" val="2515340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F91C8-5484-0AAE-FC40-534DEC094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700" y="533401"/>
            <a:ext cx="6868500" cy="5715006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Echopulse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integrates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onboarding commands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terminal-based automation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setup and replication much easier for students and developers.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enhancing usability, personalization, and emotional tone,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Echopulse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transforms a static automation setup into an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educational, customizable, and user-friendly voice automation platform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overcomes the rigidity, technical dependency, and lack of interaction found in the existing system.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31455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7D7D5-E91D-0D0E-D6B5-72CDD38A4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4384"/>
            <a:ext cx="8229600" cy="1143000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7750F-8821-F28C-9E09-DC71A943B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371600"/>
            <a:ext cx="8229600" cy="525780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AI-based voice agent that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calls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ElevenLabs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realistic voice generation.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Twilio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for making and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automated calls.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connect all APIs using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Cursor IDE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smooth operation.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deliver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information through AI-powered voice interaction.</a:t>
            </a:r>
          </a:p>
        </p:txBody>
      </p:sp>
    </p:spTree>
    <p:extLst>
      <p:ext uri="{BB962C8B-B14F-4D97-AF65-F5344CB8AC3E}">
        <p14:creationId xmlns:p14="http://schemas.microsoft.com/office/powerpoint/2010/main" val="2632883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6CCC3-9B8A-C267-7AEE-CD4033E37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Diagrams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1C5F24B-58AA-5034-6A07-4AC9EF4410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2057400"/>
            <a:ext cx="7659169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109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049E4-A1CA-48EC-218D-47225BF3D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/>
              <a:t>Working of </a:t>
            </a:r>
            <a:r>
              <a:rPr lang="en-US" dirty="0" err="1"/>
              <a:t>echopulse</a:t>
            </a:r>
            <a:endParaRPr lang="en-US" dirty="0"/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AE6F15C0-DB9D-25A3-4DDF-852FED53D5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38400" y="1219200"/>
            <a:ext cx="4114800" cy="4906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4382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72A7F-1996-20AF-2330-B69CFA0C5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87BB4-3828-3575-383D-BE04B7824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implementation of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ECHOPULSE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involved systematic execution of the designed architecture through careful integration of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ElevenLabs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Twilio, and MCP server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section details the practical steps taken to bring the system to life.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635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6A696-E7B2-35C2-A2E2-470CFF289E0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28600"/>
            <a:ext cx="8686800" cy="647700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Accounts Created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ElevenLabs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Twilio accounts were set up for API access and call functionality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Key Generation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Unrestricted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ElevenLabs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key was created and stored securely.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Twilio Configurator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71500" indent="-5715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phone number via OTP</a:t>
            </a:r>
          </a:p>
          <a:p>
            <a:pPr marL="571500" indent="-5715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Purchased trial number</a:t>
            </a:r>
          </a:p>
          <a:p>
            <a:pPr marL="571500" indent="-5715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 voice URL: 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https://api.us.elevenlabs.io/twilio/inbound_call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Integration:</a:t>
            </a:r>
          </a:p>
          <a:p>
            <a:pPr marL="571500" indent="-5715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Twilio number imported into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ElevenLabs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Twilio Account SID and Auth Token linked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417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F9DAE2-785B-6BDD-8535-A2D97D237E1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0"/>
            <a:ext cx="9067800" cy="67818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9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Server Setup:</a:t>
            </a:r>
          </a:p>
          <a:p>
            <a:pPr marL="571500" indent="-571500">
              <a:buFont typeface="+mj-lt"/>
              <a:buAutoNum type="alphaLcParenR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Installed via Cursor IDE terminal</a:t>
            </a:r>
          </a:p>
          <a:p>
            <a:pPr marL="0" indent="0"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pip install </a:t>
            </a:r>
            <a:r>
              <a:rPr lang="en-US" sz="2500" i="1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elevenlabs-mcp</a:t>
            </a: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 python -m </a:t>
            </a:r>
            <a:r>
              <a:rPr lang="en-US" sz="2500" i="1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elevenlabs_mcp</a:t>
            </a: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 --</a:t>
            </a:r>
            <a:r>
              <a:rPr lang="en-US" sz="2500" i="1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api</a:t>
            </a: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-key=&lt;</a:t>
            </a:r>
            <a:r>
              <a:rPr lang="en-US" sz="2500" i="1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your_api_key</a:t>
            </a: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&gt;</a:t>
            </a:r>
            <a:endParaRPr lang="en-US"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9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Creation:</a:t>
            </a:r>
          </a:p>
          <a:p>
            <a:pPr marL="571500" indent="-571500">
              <a:buFont typeface="+mj-lt"/>
              <a:buAutoNum type="alphaLcParenR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Prompt: create an agent that makes an outbound call to update someone about recent tech news</a:t>
            </a:r>
          </a:p>
          <a:p>
            <a:pPr marL="571500" indent="-571500">
              <a:buFont typeface="+mj-lt"/>
              <a:buAutoNum type="alphaLcParenR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Voice: Female, friendly, confident</a:t>
            </a:r>
          </a:p>
          <a:p>
            <a:pPr marL="571500" indent="-571500">
              <a:buFont typeface="+mj-lt"/>
              <a:buAutoNum type="alphaLcParenR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 Deliver updates on AI, programming, cybersecurity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 Execution:</a:t>
            </a:r>
          </a:p>
          <a:p>
            <a:pPr marL="571500" indent="-571500">
              <a:buFont typeface="+mj-lt"/>
              <a:buAutoNum type="alphaLcParenR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initiated outbound call via Twilio</a:t>
            </a:r>
          </a:p>
          <a:p>
            <a:pPr marL="571500" indent="-571500">
              <a:buFont typeface="+mj-lt"/>
              <a:buAutoNum type="alphaLcParenR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Call connected to verified number</a:t>
            </a:r>
          </a:p>
          <a:p>
            <a:pPr marL="571500" indent="-571500">
              <a:buFont typeface="+mj-lt"/>
              <a:buAutoNum type="alphaLcParenR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delivered real-time voice message</a:t>
            </a:r>
          </a:p>
          <a:p>
            <a:pPr marL="514350" indent="-514350">
              <a:buFont typeface="+mj-lt"/>
              <a:buAutoNum type="alphaLcParenR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799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23D81-B41A-64A6-0D0F-0BC586274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2237"/>
            <a:ext cx="8229600" cy="1143000"/>
          </a:xfrm>
        </p:spPr>
        <p:txBody>
          <a:bodyPr/>
          <a:lstStyle/>
          <a:p>
            <a:r>
              <a:rPr lang="en-US" dirty="0"/>
              <a:t>Results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37C9E-10DF-2E56-56E9-8229A05FA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525963"/>
          </a:xfrm>
        </p:spPr>
        <p:txBody>
          <a:bodyPr>
            <a:normAutofit/>
          </a:bodyPr>
          <a:lstStyle/>
          <a:p>
            <a:r>
              <a:rPr lang="en-US" sz="2800" dirty="0"/>
              <a:t>The AI agent successfully made </a:t>
            </a:r>
            <a:r>
              <a:rPr lang="en-US" sz="2800" b="1" i="1" dirty="0"/>
              <a:t>real-time phone calls </a:t>
            </a:r>
            <a:r>
              <a:rPr lang="en-US" sz="2800" dirty="0"/>
              <a:t>using Twilio API.</a:t>
            </a:r>
          </a:p>
          <a:p>
            <a:r>
              <a:rPr lang="en-US" sz="2800" dirty="0" err="1"/>
              <a:t>ElevenLabs</a:t>
            </a:r>
            <a:r>
              <a:rPr lang="en-US" sz="2800" dirty="0"/>
              <a:t> generated clear, </a:t>
            </a:r>
            <a:r>
              <a:rPr lang="en-US" sz="2800" b="1" i="1" dirty="0"/>
              <a:t>human-like voice responses</a:t>
            </a:r>
            <a:r>
              <a:rPr lang="en-US" sz="2800" dirty="0"/>
              <a:t>.</a:t>
            </a:r>
          </a:p>
          <a:p>
            <a:r>
              <a:rPr lang="en-US" sz="2800" dirty="0"/>
              <a:t>The system delivered accurate information during calls with </a:t>
            </a:r>
            <a:r>
              <a:rPr lang="en-US" sz="2800" b="1" i="1" dirty="0"/>
              <a:t>minimal delay</a:t>
            </a:r>
            <a:r>
              <a:rPr lang="en-US" sz="2800" dirty="0"/>
              <a:t>.</a:t>
            </a:r>
          </a:p>
          <a:p>
            <a:r>
              <a:rPr lang="en-US" sz="2800" dirty="0"/>
              <a:t>Integration through </a:t>
            </a:r>
            <a:r>
              <a:rPr lang="en-US" sz="2800" b="1" i="1" dirty="0"/>
              <a:t>MCP in Cursor IDE </a:t>
            </a:r>
            <a:r>
              <a:rPr lang="en-US" sz="2800" dirty="0"/>
              <a:t>ensured smooth communication between API’s .</a:t>
            </a:r>
          </a:p>
        </p:txBody>
      </p:sp>
    </p:spTree>
    <p:extLst>
      <p:ext uri="{BB962C8B-B14F-4D97-AF65-F5344CB8AC3E}">
        <p14:creationId xmlns:p14="http://schemas.microsoft.com/office/powerpoint/2010/main" val="1416981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AD4599-8475-42B2-1F07-9E0523E2D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712" y="369601"/>
            <a:ext cx="4040188" cy="639762"/>
          </a:xfrm>
        </p:spPr>
        <p:txBody>
          <a:bodyPr>
            <a:normAutofit fontScale="77500" lnSpcReduction="20000"/>
          </a:bodyPr>
          <a:lstStyle/>
          <a:p>
            <a:pPr algn="ctr"/>
            <a:r>
              <a:rPr lang="en-US" sz="2800" dirty="0"/>
              <a:t>PROMPT given in CURSOR IDE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23B8B3E-C97B-B754-1B1F-D22A10EF0B8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371601"/>
            <a:ext cx="4343400" cy="3951288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1B026E-2A7D-8443-C89A-2C4636ECC3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84649" y="369601"/>
            <a:ext cx="4041775" cy="639762"/>
          </a:xfrm>
        </p:spPr>
        <p:txBody>
          <a:bodyPr>
            <a:normAutofit fontScale="77500" lnSpcReduction="20000"/>
          </a:bodyPr>
          <a:lstStyle/>
          <a:p>
            <a:pPr algn="ctr"/>
            <a:r>
              <a:rPr lang="en-US" sz="2800" dirty="0"/>
              <a:t>OUTPUT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2F35A7F-92B8-6EB8-E8D1-7E60E2338E2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2013" y="1371601"/>
            <a:ext cx="4041775" cy="3951288"/>
          </a:xfrm>
        </p:spPr>
      </p:pic>
    </p:spTree>
    <p:extLst>
      <p:ext uri="{BB962C8B-B14F-4D97-AF65-F5344CB8AC3E}">
        <p14:creationId xmlns:p14="http://schemas.microsoft.com/office/powerpoint/2010/main" val="3095677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3F51F-503C-D8D4-4757-7D12D34A4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3AA44-C70F-2237-DA8E-C6D17742D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62375"/>
            <a:ext cx="8229600" cy="4905025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Conversational Capabilities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development will focus on more sophisticated natural language understanding, enabling ECHOPULSE to handle complex, multi-turn conversations with greater contextual awareness and adaptive behavior.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Self-learning system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reinforcement learning techniques will allow ECHOPULSE to continuously improve its conversation strategies based on recipient feedback and outcome data.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057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EA2E5-9034-AD30-3038-AFDBC9177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"/>
            <a:ext cx="8229600" cy="1143000"/>
          </a:xfrm>
        </p:spPr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78CC6-B625-ADE5-0DC3-DC9FF9F46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300" b="1" i="1" dirty="0" err="1"/>
              <a:t>Echopulse</a:t>
            </a:r>
            <a:r>
              <a:rPr lang="en-US" sz="2300" dirty="0"/>
              <a:t> brings together </a:t>
            </a:r>
            <a:r>
              <a:rPr lang="en-US" sz="2300" b="1" i="1" dirty="0"/>
              <a:t>AI voice synthesis </a:t>
            </a:r>
            <a:r>
              <a:rPr lang="en-US" sz="2300" dirty="0"/>
              <a:t>and </a:t>
            </a:r>
            <a:r>
              <a:rPr lang="en-US" sz="2300" b="1" i="1" dirty="0"/>
              <a:t>telephony automation </a:t>
            </a:r>
            <a:r>
              <a:rPr lang="en-US" sz="2300" dirty="0"/>
              <a:t>to create a </a:t>
            </a:r>
            <a:r>
              <a:rPr lang="en-US" sz="2300" b="1" i="1" dirty="0"/>
              <a:t>smart voice agent </a:t>
            </a:r>
            <a:r>
              <a:rPr lang="en-US" sz="2300" dirty="0"/>
              <a:t>that makes </a:t>
            </a:r>
            <a:r>
              <a:rPr lang="en-US" sz="2300" b="1" i="1" dirty="0"/>
              <a:t>real-time phone calls</a:t>
            </a:r>
            <a:r>
              <a:rPr lang="en-US" sz="2300" dirty="0"/>
              <a:t>. It uses </a:t>
            </a:r>
            <a:r>
              <a:rPr lang="en-US" sz="2300" b="1" i="1" dirty="0" err="1"/>
              <a:t>ElevenLabs</a:t>
            </a:r>
            <a:r>
              <a:rPr lang="en-US" sz="2300" dirty="0"/>
              <a:t> for </a:t>
            </a:r>
            <a:r>
              <a:rPr lang="en-US" sz="2300" b="1" i="1" dirty="0"/>
              <a:t>lifelike speech</a:t>
            </a:r>
            <a:r>
              <a:rPr lang="en-US" sz="2300" dirty="0"/>
              <a:t>, </a:t>
            </a:r>
            <a:r>
              <a:rPr lang="en-US" sz="2300" b="1" i="1" dirty="0"/>
              <a:t>Twilio</a:t>
            </a:r>
            <a:r>
              <a:rPr lang="en-US" sz="2300" dirty="0"/>
              <a:t> for seamless </a:t>
            </a:r>
            <a:r>
              <a:rPr lang="en-US" sz="2300" b="1" i="1" dirty="0"/>
              <a:t>call handling</a:t>
            </a:r>
            <a:r>
              <a:rPr lang="en-US" sz="2300" dirty="0"/>
              <a:t>, and </a:t>
            </a:r>
            <a:r>
              <a:rPr lang="en-US" sz="2300" b="1" i="1" dirty="0"/>
              <a:t>MCP integration via Cursor IDE </a:t>
            </a:r>
            <a:r>
              <a:rPr lang="en-US" sz="2300" dirty="0"/>
              <a:t>to ensure smooth operation. The result is clear, human-like communication that automates information delivery and </a:t>
            </a:r>
            <a:r>
              <a:rPr lang="en-US" sz="2300" b="1" i="1" dirty="0"/>
              <a:t>enhances user interaction.</a:t>
            </a:r>
            <a:r>
              <a:rPr lang="en-US" sz="2300" dirty="0"/>
              <a:t> </a:t>
            </a:r>
            <a:r>
              <a:rPr lang="en-US" sz="2300" b="1" i="1" dirty="0" err="1"/>
              <a:t>Echopulse</a:t>
            </a:r>
            <a:r>
              <a:rPr lang="en-US" sz="2300" dirty="0"/>
              <a:t> stands out as an innovative and efficient </a:t>
            </a:r>
            <a:r>
              <a:rPr lang="en-US" sz="2300" b="1" i="1" dirty="0"/>
              <a:t>solution</a:t>
            </a:r>
            <a:r>
              <a:rPr lang="en-US" sz="2300" dirty="0"/>
              <a:t> </a:t>
            </a:r>
            <a:r>
              <a:rPr lang="en-US" sz="2300" b="1" i="1" dirty="0"/>
              <a:t>for real-time voice automation</a:t>
            </a:r>
            <a:r>
              <a:rPr lang="en-US" sz="2300" dirty="0"/>
              <a:t>.</a:t>
            </a:r>
          </a:p>
          <a:p>
            <a:pPr marL="0" indent="0" algn="just">
              <a:buNone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3835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92FC3-E1C1-626C-E92E-738511626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"/>
            <a:ext cx="8229600" cy="1143000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BAE20-AC0A-F0AA-7C17-662DFC46F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4525963"/>
          </a:xfrm>
        </p:spPr>
        <p:txBody>
          <a:bodyPr>
            <a:normAutofit/>
          </a:bodyPr>
          <a:lstStyle/>
          <a:p>
            <a:r>
              <a:rPr lang="en-US" i="1" dirty="0" err="1"/>
              <a:t>ElevenLabs</a:t>
            </a:r>
            <a:r>
              <a:rPr lang="en-US" i="1" dirty="0"/>
              <a:t>. (2024). AI Voice Generation Platform. </a:t>
            </a:r>
            <a:r>
              <a:rPr lang="en-US" i="1" dirty="0">
                <a:hlinkClick r:id="rId2"/>
              </a:rPr>
              <a:t>https://elevenlabs.io4</a:t>
            </a:r>
            <a:r>
              <a:rPr lang="en-US" i="1" dirty="0"/>
              <a:t>.</a:t>
            </a:r>
          </a:p>
          <a:p>
            <a:r>
              <a:rPr lang="en-US" i="1" dirty="0"/>
              <a:t> Twilio. (2024). Programmable Voice API Documentation. </a:t>
            </a:r>
            <a:r>
              <a:rPr lang="en-US" i="1" u="sng" dirty="0">
                <a:solidFill>
                  <a:srgbClr val="002060"/>
                </a:solidFill>
                <a:hlinkClick r:id="rId3" action="ppaction://hlinksldjump"/>
              </a:rPr>
              <a:t>https://www.twilio.com/voice5. </a:t>
            </a:r>
            <a:endParaRPr lang="en-US" i="1" u="sng" dirty="0">
              <a:solidFill>
                <a:srgbClr val="002060"/>
              </a:solidFill>
            </a:endParaRPr>
          </a:p>
          <a:p>
            <a:r>
              <a:rPr lang="en-US" i="1" dirty="0"/>
              <a:t>Microsoft. (2024). Model Context Protocol (MCP) for AI Integration. </a:t>
            </a:r>
            <a:r>
              <a:rPr lang="en-US" i="1" dirty="0">
                <a:hlinkClick r:id="rId4"/>
              </a:rPr>
              <a:t>https://microsoft.github.io/mcp</a:t>
            </a:r>
            <a:endParaRPr lang="en-US" i="1" dirty="0"/>
          </a:p>
          <a:p>
            <a:r>
              <a:rPr lang="en-US" i="1" dirty="0" err="1"/>
              <a:t>Jurafsky</a:t>
            </a:r>
            <a:r>
              <a:rPr lang="en-US" i="1" dirty="0"/>
              <a:t>, D., &amp; Martin, J. H. (2023). Speech and Language Processing (3rd ed.). Pearson Education. </a:t>
            </a:r>
          </a:p>
        </p:txBody>
      </p:sp>
    </p:spTree>
    <p:extLst>
      <p:ext uri="{BB962C8B-B14F-4D97-AF65-F5344CB8AC3E}">
        <p14:creationId xmlns:p14="http://schemas.microsoft.com/office/powerpoint/2010/main" val="3051018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086600"/>
          </a:xfrm>
        </p:spPr>
        <p:txBody>
          <a:bodyPr>
            <a:normAutofit/>
          </a:bodyPr>
          <a:lstStyle/>
          <a:p>
            <a:pPr algn="ctr"/>
            <a:br>
              <a:rPr lang="en-US" sz="6600" dirty="0"/>
            </a:br>
            <a:br>
              <a:rPr lang="en-US" sz="6600" dirty="0"/>
            </a:br>
            <a:r>
              <a:rPr lang="en-US" sz="7200" dirty="0"/>
              <a:t>THANK YOU</a:t>
            </a:r>
            <a:br>
              <a:rPr lang="en-US" sz="7200" dirty="0"/>
            </a:b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7414392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988</TotalTime>
  <Words>1194</Words>
  <Application>Microsoft Office PowerPoint</Application>
  <PresentationFormat>On-screen Show (4:3)</PresentationFormat>
  <Paragraphs>130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Calibri</vt:lpstr>
      <vt:lpstr>Century Gothic</vt:lpstr>
      <vt:lpstr>Times New Roman</vt:lpstr>
      <vt:lpstr>Wingdings</vt:lpstr>
      <vt:lpstr>Wingdings 3</vt:lpstr>
      <vt:lpstr>Ion</vt:lpstr>
      <vt:lpstr> National Conference on  Advances in Science Engineering &amp; Technology 7th NOV 2025</vt:lpstr>
      <vt:lpstr>Contents</vt:lpstr>
      <vt:lpstr>Abstract</vt:lpstr>
      <vt:lpstr>Introduction</vt:lpstr>
      <vt:lpstr>Problem statement</vt:lpstr>
      <vt:lpstr>Literature Review</vt:lpstr>
      <vt:lpstr>Existing system and its limitation</vt:lpstr>
      <vt:lpstr>PowerPoint Presentation</vt:lpstr>
      <vt:lpstr>Proposed System</vt:lpstr>
      <vt:lpstr>PowerPoint Presentation</vt:lpstr>
      <vt:lpstr>Objectives</vt:lpstr>
      <vt:lpstr>Block Diagrams</vt:lpstr>
      <vt:lpstr>Working of echopulse</vt:lpstr>
      <vt:lpstr>Implementation</vt:lpstr>
      <vt:lpstr>PowerPoint Presentation</vt:lpstr>
      <vt:lpstr>PowerPoint Presentation</vt:lpstr>
      <vt:lpstr>Results </vt:lpstr>
      <vt:lpstr>PowerPoint Presentation</vt:lpstr>
      <vt:lpstr>Future Scope</vt:lpstr>
      <vt:lpstr>Conclusions</vt:lpstr>
      <vt:lpstr>References</vt:lpstr>
      <vt:lpstr>  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anaghapd05@gmail.com</cp:lastModifiedBy>
  <cp:revision>23</cp:revision>
  <dcterms:created xsi:type="dcterms:W3CDTF">2006-08-16T00:00:00Z</dcterms:created>
  <dcterms:modified xsi:type="dcterms:W3CDTF">2025-11-07T02:45:38Z</dcterms:modified>
</cp:coreProperties>
</file>